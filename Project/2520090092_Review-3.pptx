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ileron Bold" charset="1" panose="00000800000000000000"/>
      <p:regular r:id="rId21"/>
    </p:embeddedFont>
    <p:embeddedFont>
      <p:font typeface="Aileron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image8.jpeg" Type="http://schemas.openxmlformats.org/officeDocument/2006/relationships/image"/><Relationship Id="rId5" Target="../media/image9.jpeg" Type="http://schemas.openxmlformats.org/officeDocument/2006/relationships/image"/><Relationship Id="rId6" Target="../media/image10.jpeg" Type="http://schemas.openxmlformats.org/officeDocument/2006/relationships/image"/><Relationship Id="rId7" Target="../media/image1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5260" y="-527260"/>
            <a:ext cx="5223733" cy="11007867"/>
          </a:xfrm>
          <a:custGeom>
            <a:avLst/>
            <a:gdLst/>
            <a:ahLst/>
            <a:cxnLst/>
            <a:rect r="r" b="b" t="t" l="l"/>
            <a:pathLst>
              <a:path h="11007867" w="5223733">
                <a:moveTo>
                  <a:pt x="0" y="0"/>
                </a:moveTo>
                <a:lnTo>
                  <a:pt x="5223733" y="0"/>
                </a:lnTo>
                <a:lnTo>
                  <a:pt x="5223733" y="11007867"/>
                </a:lnTo>
                <a:lnTo>
                  <a:pt x="0" y="110078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52069" y="7016175"/>
            <a:ext cx="7315200" cy="3923607"/>
          </a:xfrm>
          <a:custGeom>
            <a:avLst/>
            <a:gdLst/>
            <a:ahLst/>
            <a:cxnLst/>
            <a:rect r="r" b="b" t="t" l="l"/>
            <a:pathLst>
              <a:path h="3923607" w="7315200">
                <a:moveTo>
                  <a:pt x="0" y="0"/>
                </a:moveTo>
                <a:lnTo>
                  <a:pt x="7315200" y="0"/>
                </a:lnTo>
                <a:lnTo>
                  <a:pt x="7315200" y="3923607"/>
                </a:lnTo>
                <a:lnTo>
                  <a:pt x="0" y="39236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52069" y="702427"/>
            <a:ext cx="12655254" cy="33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692"/>
              </a:lnSpc>
            </a:pPr>
            <a:r>
              <a:rPr lang="en-US" b="true" sz="9658" spc="-241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SMART  ATTENDANCE</a:t>
            </a:r>
          </a:p>
          <a:p>
            <a:pPr algn="r" marL="0" indent="0" lvl="0">
              <a:lnSpc>
                <a:spcPts val="8692"/>
              </a:lnSpc>
            </a:pPr>
            <a:r>
              <a:rPr lang="en-US" b="true" sz="9658" spc="-241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 SYSTEM   USING  FACE                 RECOGNITION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91822" y="7542939"/>
            <a:ext cx="6427016" cy="237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00"/>
              </a:lnSpc>
            </a:pPr>
            <a:r>
              <a:rPr lang="en-US" sz="3700" spc="-181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PRESENTED BY -</a:t>
            </a:r>
          </a:p>
          <a:p>
            <a:pPr algn="just">
              <a:lnSpc>
                <a:spcPts val="3700"/>
              </a:lnSpc>
            </a:pPr>
            <a:r>
              <a:rPr lang="en-US" sz="3700" spc="-181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V.SHIVA -2520090092</a:t>
            </a:r>
          </a:p>
          <a:p>
            <a:pPr algn="just">
              <a:lnSpc>
                <a:spcPts val="3700"/>
              </a:lnSpc>
            </a:pPr>
            <a:r>
              <a:rPr lang="en-US" sz="3700" spc="-181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V.SATHVIK-2520090097</a:t>
            </a:r>
          </a:p>
          <a:p>
            <a:pPr algn="just">
              <a:lnSpc>
                <a:spcPts val="3700"/>
              </a:lnSpc>
            </a:pPr>
            <a:r>
              <a:rPr lang="en-US" sz="3700" spc="-181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PRANAV.R-2520090109</a:t>
            </a:r>
          </a:p>
          <a:p>
            <a:pPr algn="just">
              <a:lnSpc>
                <a:spcPts val="37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38851" y="7657239"/>
            <a:ext cx="1664601" cy="235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9133"/>
              </a:lnSpc>
              <a:spcBef>
                <a:spcPct val="0"/>
              </a:spcBef>
            </a:pPr>
            <a:r>
              <a:rPr lang="en-US" sz="9133" spc="-447" strike="noStrike" u="none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5354" y="6224493"/>
            <a:ext cx="19198230" cy="6911363"/>
          </a:xfrm>
          <a:custGeom>
            <a:avLst/>
            <a:gdLst/>
            <a:ahLst/>
            <a:cxnLst/>
            <a:rect r="r" b="b" t="t" l="l"/>
            <a:pathLst>
              <a:path h="6911363" w="19198230">
                <a:moveTo>
                  <a:pt x="0" y="0"/>
                </a:moveTo>
                <a:lnTo>
                  <a:pt x="19198231" y="0"/>
                </a:lnTo>
                <a:lnTo>
                  <a:pt x="19198231" y="6911363"/>
                </a:lnTo>
                <a:lnTo>
                  <a:pt x="0" y="69113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022768" y="7060060"/>
            <a:ext cx="6492606" cy="272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11"/>
              </a:lnSpc>
            </a:pPr>
            <a:r>
              <a:rPr lang="en-US" b="true" sz="11456" spc="-286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Project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8875" y="866598"/>
            <a:ext cx="15933442" cy="1192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2"/>
              </a:lnSpc>
              <a:spcBef>
                <a:spcPct val="0"/>
              </a:spcBef>
            </a:pPr>
            <a:r>
              <a:rPr lang="en-US" sz="3092" spc="-151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THE </a:t>
            </a:r>
            <a:r>
              <a:rPr lang="en-US" sz="3092" spc="-151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Smart Attendance System Using Face Recognition is a web-based system that automatically identifies students using face recognition and records their attendance in MongoDB.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8599" y="3294695"/>
            <a:ext cx="16093230" cy="201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  <a:spcBef>
                <a:spcPct val="0"/>
              </a:spcBef>
            </a:pPr>
            <a:r>
              <a:rPr lang="en-US" sz="2300" spc="-112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MAIN FEATURES:</a:t>
            </a:r>
          </a:p>
          <a:p>
            <a:pPr algn="l">
              <a:lnSpc>
                <a:spcPts val="2300"/>
              </a:lnSpc>
              <a:spcBef>
                <a:spcPct val="0"/>
              </a:spcBef>
            </a:pPr>
          </a:p>
          <a:p>
            <a:pPr algn="l" marL="496585" indent="-248293" lvl="1">
              <a:lnSpc>
                <a:spcPts val="230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pc="-112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STUDENT REGISTRATION</a:t>
            </a:r>
          </a:p>
          <a:p>
            <a:pPr algn="l" marL="496585" indent="-248293" lvl="1">
              <a:lnSpc>
                <a:spcPts val="230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pc="-112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FACE RECOGNITION</a:t>
            </a:r>
          </a:p>
          <a:p>
            <a:pPr algn="l" marL="496585" indent="-248293" lvl="1">
              <a:lnSpc>
                <a:spcPts val="230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pc="-112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AUTOMATIC ATTENDANCE MARKING</a:t>
            </a:r>
          </a:p>
          <a:p>
            <a:pPr algn="l" marL="496585" indent="-248293" lvl="1">
              <a:lnSpc>
                <a:spcPts val="230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pc="-112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ADMIN DASHBOARD</a:t>
            </a:r>
          </a:p>
          <a:p>
            <a:pPr algn="l" marL="496585" indent="-248293" lvl="1">
              <a:lnSpc>
                <a:spcPts val="2300"/>
              </a:lnSpc>
              <a:spcBef>
                <a:spcPct val="0"/>
              </a:spcBef>
              <a:buFont typeface="Arial"/>
              <a:buChar char="•"/>
            </a:pPr>
            <a:r>
              <a:rPr lang="en-US" sz="2300" spc="-112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MONGODB DATABASE STORAGE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181814" y="-527260"/>
            <a:ext cx="4593112" cy="11007867"/>
          </a:xfrm>
          <a:custGeom>
            <a:avLst/>
            <a:gdLst/>
            <a:ahLst/>
            <a:cxnLst/>
            <a:rect r="r" b="b" t="t" l="l"/>
            <a:pathLst>
              <a:path h="11007867" w="4593112">
                <a:moveTo>
                  <a:pt x="4593113" y="0"/>
                </a:moveTo>
                <a:lnTo>
                  <a:pt x="0" y="0"/>
                </a:lnTo>
                <a:lnTo>
                  <a:pt x="0" y="11007867"/>
                </a:lnTo>
                <a:lnTo>
                  <a:pt x="4593113" y="11007867"/>
                </a:lnTo>
                <a:lnTo>
                  <a:pt x="4593113" y="0"/>
                </a:lnTo>
                <a:close/>
              </a:path>
            </a:pathLst>
          </a:custGeom>
          <a:blipFill>
            <a:blip r:embed="rId2"/>
            <a:stretch>
              <a:fillRect l="0" t="0" r="-1372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92882" y="5143500"/>
            <a:ext cx="7853210" cy="4426381"/>
            <a:chOff x="0" y="0"/>
            <a:chExt cx="2114537" cy="1191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14537" cy="1191837"/>
            </a:xfrm>
            <a:custGeom>
              <a:avLst/>
              <a:gdLst/>
              <a:ahLst/>
              <a:cxnLst/>
              <a:rect r="r" b="b" t="t" l="l"/>
              <a:pathLst>
                <a:path h="1191837" w="2114537">
                  <a:moveTo>
                    <a:pt x="0" y="0"/>
                  </a:moveTo>
                  <a:lnTo>
                    <a:pt x="2114537" y="0"/>
                  </a:lnTo>
                  <a:lnTo>
                    <a:pt x="2114537" y="1191837"/>
                  </a:lnTo>
                  <a:lnTo>
                    <a:pt x="0" y="1191837"/>
                  </a:lnTo>
                  <a:close/>
                </a:path>
              </a:pathLst>
            </a:custGeom>
            <a:blipFill>
              <a:blip r:embed="rId3"/>
              <a:stretch>
                <a:fillRect l="-237" t="0" r="-237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887836" y="610774"/>
            <a:ext cx="10379257" cy="301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685"/>
              </a:lnSpc>
            </a:pPr>
            <a:r>
              <a:rPr lang="en-US" b="true" sz="11456" spc="-286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Front-End Development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7836" y="4346827"/>
            <a:ext cx="8708393" cy="5056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5516" indent="-357758" lvl="1">
              <a:lnSpc>
                <a:spcPts val="3314"/>
              </a:lnSpc>
              <a:spcBef>
                <a:spcPct val="0"/>
              </a:spcBef>
              <a:buFont typeface="Arial"/>
              <a:buChar char="•"/>
            </a:pPr>
            <a:r>
              <a:rPr lang="en-US" sz="3314" spc="-162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HTML: CREATES THE WEB PAGES AND FORMS.</a:t>
            </a:r>
          </a:p>
          <a:p>
            <a:pPr algn="l">
              <a:lnSpc>
                <a:spcPts val="3314"/>
              </a:lnSpc>
              <a:spcBef>
                <a:spcPct val="0"/>
              </a:spcBef>
            </a:pPr>
          </a:p>
          <a:p>
            <a:pPr algn="l" marL="715516" indent="-357758" lvl="1">
              <a:lnSpc>
                <a:spcPts val="3314"/>
              </a:lnSpc>
              <a:spcBef>
                <a:spcPct val="0"/>
              </a:spcBef>
              <a:buFont typeface="Arial"/>
              <a:buChar char="•"/>
            </a:pPr>
            <a:r>
              <a:rPr lang="en-US" sz="3314" spc="-162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CSS: DESIGNS THE LAYOUT AND USER INTERFACE.</a:t>
            </a:r>
          </a:p>
          <a:p>
            <a:pPr algn="l">
              <a:lnSpc>
                <a:spcPts val="3314"/>
              </a:lnSpc>
              <a:spcBef>
                <a:spcPct val="0"/>
              </a:spcBef>
            </a:pPr>
          </a:p>
          <a:p>
            <a:pPr algn="l" marL="715516" indent="-357758" lvl="1">
              <a:lnSpc>
                <a:spcPts val="3314"/>
              </a:lnSpc>
              <a:spcBef>
                <a:spcPct val="0"/>
              </a:spcBef>
              <a:buFont typeface="Arial"/>
              <a:buChar char="•"/>
            </a:pPr>
            <a:r>
              <a:rPr lang="en-US" sz="3314" spc="-162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JAVASCRIPT: HANDLES FACE RECOGNITION, CAMERA ACCESS, AND ATTENDANCE ACTIONS.</a:t>
            </a:r>
          </a:p>
          <a:p>
            <a:pPr algn="l">
              <a:lnSpc>
                <a:spcPts val="3314"/>
              </a:lnSpc>
              <a:spcBef>
                <a:spcPct val="0"/>
              </a:spcBef>
            </a:pPr>
          </a:p>
          <a:p>
            <a:pPr algn="l" marL="715516" indent="-357758" lvl="1">
              <a:lnSpc>
                <a:spcPts val="3314"/>
              </a:lnSpc>
              <a:spcBef>
                <a:spcPct val="0"/>
              </a:spcBef>
              <a:buFont typeface="Arial"/>
              <a:buChar char="•"/>
            </a:pPr>
            <a:r>
              <a:rPr lang="en-US" sz="3314" spc="-162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FACE-API.JS: PERFORMS FACE DETECTION AND RECOGNITION USING THE WEBCAM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455115" y="-3018570"/>
            <a:ext cx="19198230" cy="6911363"/>
          </a:xfrm>
          <a:custGeom>
            <a:avLst/>
            <a:gdLst/>
            <a:ahLst/>
            <a:cxnLst/>
            <a:rect r="r" b="b" t="t" l="l"/>
            <a:pathLst>
              <a:path h="6911363" w="19198230">
                <a:moveTo>
                  <a:pt x="0" y="0"/>
                </a:moveTo>
                <a:lnTo>
                  <a:pt x="19198230" y="0"/>
                </a:lnTo>
                <a:lnTo>
                  <a:pt x="19198230" y="6911363"/>
                </a:lnTo>
                <a:lnTo>
                  <a:pt x="0" y="69113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1490" y="760962"/>
            <a:ext cx="16504680" cy="272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11"/>
              </a:lnSpc>
            </a:pPr>
            <a:r>
              <a:rPr lang="en-US" b="true" sz="11456" spc="-286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Frontend Modules / Features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1490" y="4566733"/>
            <a:ext cx="11073451" cy="329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4524" indent="-402262" lvl="1">
              <a:lnSpc>
                <a:spcPts val="3726"/>
              </a:lnSpc>
              <a:buFont typeface="Arial"/>
              <a:buChar char="•"/>
            </a:pPr>
            <a:r>
              <a:rPr lang="en-US" sz="3726" spc="-182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ADMIN LOGIN MODULE</a:t>
            </a:r>
          </a:p>
          <a:p>
            <a:pPr algn="l" marL="804524" indent="-402262" lvl="1">
              <a:lnSpc>
                <a:spcPts val="3726"/>
              </a:lnSpc>
              <a:buFont typeface="Arial"/>
              <a:buChar char="•"/>
            </a:pPr>
            <a:r>
              <a:rPr lang="en-US" sz="3726" spc="-182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Student Registration Module</a:t>
            </a:r>
          </a:p>
          <a:p>
            <a:pPr algn="l" marL="804524" indent="-402262" lvl="1">
              <a:lnSpc>
                <a:spcPts val="3726"/>
              </a:lnSpc>
              <a:buFont typeface="Arial"/>
              <a:buChar char="•"/>
            </a:pPr>
            <a:r>
              <a:rPr lang="en-US" sz="3726" spc="-182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Face Capture Module</a:t>
            </a:r>
          </a:p>
          <a:p>
            <a:pPr algn="l" marL="804524" indent="-402262" lvl="1">
              <a:lnSpc>
                <a:spcPts val="3726"/>
              </a:lnSpc>
              <a:buFont typeface="Arial"/>
              <a:buChar char="•"/>
            </a:pPr>
            <a:r>
              <a:rPr lang="en-US" sz="3726" spc="-182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Face Recognition Module</a:t>
            </a:r>
          </a:p>
          <a:p>
            <a:pPr algn="l" marL="804524" indent="-402262" lvl="1">
              <a:lnSpc>
                <a:spcPts val="3726"/>
              </a:lnSpc>
              <a:buFont typeface="Arial"/>
              <a:buChar char="•"/>
            </a:pPr>
            <a:r>
              <a:rPr lang="en-US" sz="3726" spc="-182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Attendance Marking Module</a:t>
            </a:r>
          </a:p>
          <a:p>
            <a:pPr algn="l" marL="804524" indent="-402262" lvl="1">
              <a:lnSpc>
                <a:spcPts val="3726"/>
              </a:lnSpc>
              <a:buFont typeface="Arial"/>
              <a:buChar char="•"/>
            </a:pPr>
            <a:r>
              <a:rPr lang="en-US" sz="3726" spc="-182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Attendance Dashboard Module</a:t>
            </a:r>
          </a:p>
          <a:p>
            <a:pPr algn="l" marL="0" indent="0" lvl="0">
              <a:lnSpc>
                <a:spcPts val="372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19132" y="1390700"/>
            <a:ext cx="3385535" cy="7454638"/>
            <a:chOff x="0" y="0"/>
            <a:chExt cx="1257933" cy="27698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7933" cy="2769853"/>
            </a:xfrm>
            <a:custGeom>
              <a:avLst/>
              <a:gdLst/>
              <a:ahLst/>
              <a:cxnLst/>
              <a:rect r="r" b="b" t="t" l="l"/>
              <a:pathLst>
                <a:path h="2769853" w="1257933">
                  <a:moveTo>
                    <a:pt x="0" y="0"/>
                  </a:moveTo>
                  <a:lnTo>
                    <a:pt x="1257933" y="0"/>
                  </a:lnTo>
                  <a:lnTo>
                    <a:pt x="1257933" y="2769853"/>
                  </a:lnTo>
                  <a:lnTo>
                    <a:pt x="0" y="2769853"/>
                  </a:lnTo>
                  <a:close/>
                </a:path>
              </a:pathLst>
            </a:custGeom>
            <a:blipFill>
              <a:blip r:embed="rId2"/>
              <a:stretch>
                <a:fillRect l="-35576" t="-2485" r="-95418" b="-2421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4572415" y="3830156"/>
            <a:ext cx="777690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4572415" y="6955886"/>
            <a:ext cx="7776903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480979" y="1600458"/>
            <a:ext cx="3128171" cy="1427729"/>
          </a:xfrm>
          <a:custGeom>
            <a:avLst/>
            <a:gdLst/>
            <a:ahLst/>
            <a:cxnLst/>
            <a:rect r="r" b="b" t="t" l="l"/>
            <a:pathLst>
              <a:path h="1427729" w="3128171">
                <a:moveTo>
                  <a:pt x="0" y="0"/>
                </a:moveTo>
                <a:lnTo>
                  <a:pt x="3128172" y="0"/>
                </a:lnTo>
                <a:lnTo>
                  <a:pt x="3128172" y="1427730"/>
                </a:lnTo>
                <a:lnTo>
                  <a:pt x="0" y="1427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96787" y="1803965"/>
            <a:ext cx="3431720" cy="1020717"/>
          </a:xfrm>
          <a:custGeom>
            <a:avLst/>
            <a:gdLst/>
            <a:ahLst/>
            <a:cxnLst/>
            <a:rect r="r" b="b" t="t" l="l"/>
            <a:pathLst>
              <a:path h="1020717" w="3431720">
                <a:moveTo>
                  <a:pt x="0" y="0"/>
                </a:moveTo>
                <a:lnTo>
                  <a:pt x="3431720" y="0"/>
                </a:lnTo>
                <a:lnTo>
                  <a:pt x="3431720" y="1020716"/>
                </a:lnTo>
                <a:lnTo>
                  <a:pt x="0" y="10207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480979" y="4333918"/>
            <a:ext cx="3128171" cy="1427729"/>
          </a:xfrm>
          <a:custGeom>
            <a:avLst/>
            <a:gdLst/>
            <a:ahLst/>
            <a:cxnLst/>
            <a:rect r="r" b="b" t="t" l="l"/>
            <a:pathLst>
              <a:path h="1427729" w="3128171">
                <a:moveTo>
                  <a:pt x="0" y="0"/>
                </a:moveTo>
                <a:lnTo>
                  <a:pt x="3128172" y="0"/>
                </a:lnTo>
                <a:lnTo>
                  <a:pt x="3128172" y="1427730"/>
                </a:lnTo>
                <a:lnTo>
                  <a:pt x="0" y="1427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622799" y="4107076"/>
            <a:ext cx="2726519" cy="1866617"/>
          </a:xfrm>
          <a:custGeom>
            <a:avLst/>
            <a:gdLst/>
            <a:ahLst/>
            <a:cxnLst/>
            <a:rect r="r" b="b" t="t" l="l"/>
            <a:pathLst>
              <a:path h="1866617" w="2726519">
                <a:moveTo>
                  <a:pt x="0" y="0"/>
                </a:moveTo>
                <a:lnTo>
                  <a:pt x="2726519" y="0"/>
                </a:lnTo>
                <a:lnTo>
                  <a:pt x="2726519" y="1866617"/>
                </a:lnTo>
                <a:lnTo>
                  <a:pt x="0" y="18666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80979" y="7253214"/>
            <a:ext cx="2726519" cy="1866617"/>
          </a:xfrm>
          <a:custGeom>
            <a:avLst/>
            <a:gdLst/>
            <a:ahLst/>
            <a:cxnLst/>
            <a:rect r="r" b="b" t="t" l="l"/>
            <a:pathLst>
              <a:path h="1866617" w="2726519">
                <a:moveTo>
                  <a:pt x="0" y="0"/>
                </a:moveTo>
                <a:lnTo>
                  <a:pt x="2726519" y="0"/>
                </a:lnTo>
                <a:lnTo>
                  <a:pt x="2726519" y="1866617"/>
                </a:lnTo>
                <a:lnTo>
                  <a:pt x="0" y="18666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094150" y="9320981"/>
            <a:ext cx="3030001" cy="583799"/>
          </a:xfrm>
          <a:custGeom>
            <a:avLst/>
            <a:gdLst/>
            <a:ahLst/>
            <a:cxnLst/>
            <a:rect r="r" b="b" t="t" l="l"/>
            <a:pathLst>
              <a:path h="583799" w="3030001">
                <a:moveTo>
                  <a:pt x="0" y="0"/>
                </a:moveTo>
                <a:lnTo>
                  <a:pt x="3030001" y="0"/>
                </a:lnTo>
                <a:lnTo>
                  <a:pt x="3030001" y="583799"/>
                </a:lnTo>
                <a:lnTo>
                  <a:pt x="0" y="5837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238448" y="7455341"/>
            <a:ext cx="3590059" cy="1389997"/>
          </a:xfrm>
          <a:custGeom>
            <a:avLst/>
            <a:gdLst/>
            <a:ahLst/>
            <a:cxnLst/>
            <a:rect r="r" b="b" t="t" l="l"/>
            <a:pathLst>
              <a:path h="1389997" w="3590059">
                <a:moveTo>
                  <a:pt x="0" y="0"/>
                </a:moveTo>
                <a:lnTo>
                  <a:pt x="3590059" y="0"/>
                </a:lnTo>
                <a:lnTo>
                  <a:pt x="3590059" y="1389997"/>
                </a:lnTo>
                <a:lnTo>
                  <a:pt x="0" y="13899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-5400000">
            <a:off x="-2364227" y="3557043"/>
            <a:ext cx="9130195" cy="2981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81"/>
              </a:lnSpc>
            </a:pPr>
            <a:r>
              <a:rPr lang="en-US" b="true" sz="11256" spc="-281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Frontend screen shots</a:t>
            </a:r>
          </a:p>
        </p:txBody>
      </p:sp>
      <p:sp>
        <p:nvSpPr>
          <p:cNvPr name="TextBox 14" id="14"/>
          <p:cNvSpPr txBox="true"/>
          <p:nvPr/>
        </p:nvSpPr>
        <p:spPr>
          <a:xfrm rot="-5400000">
            <a:off x="3060944" y="8968134"/>
            <a:ext cx="4010172" cy="580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3"/>
              </a:lnSpc>
            </a:pPr>
            <a:r>
              <a:rPr lang="en-US" b="true" sz="2481" spc="-62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Face recognition </a:t>
            </a:r>
          </a:p>
          <a:p>
            <a:pPr algn="r" marL="0" indent="0" lvl="0">
              <a:lnSpc>
                <a:spcPts val="2233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-5400000">
            <a:off x="3777456" y="5205726"/>
            <a:ext cx="2135883" cy="37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73"/>
              </a:lnSpc>
              <a:spcBef>
                <a:spcPct val="0"/>
              </a:spcBef>
            </a:pPr>
            <a:r>
              <a:rPr lang="en-US" b="true" sz="3081" spc="-77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Dashboard </a:t>
            </a:r>
          </a:p>
        </p:txBody>
      </p:sp>
      <p:sp>
        <p:nvSpPr>
          <p:cNvPr name="TextBox 16" id="16"/>
          <p:cNvSpPr txBox="true"/>
          <p:nvPr/>
        </p:nvSpPr>
        <p:spPr>
          <a:xfrm rot="-5400000">
            <a:off x="3583519" y="1720016"/>
            <a:ext cx="2523759" cy="37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73"/>
              </a:lnSpc>
              <a:spcBef>
                <a:spcPct val="0"/>
              </a:spcBef>
            </a:pPr>
            <a:r>
              <a:rPr lang="en-US" b="true" sz="3081" spc="-77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login / register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47445" y="-2220272"/>
            <a:ext cx="7024353" cy="15032662"/>
          </a:xfrm>
          <a:custGeom>
            <a:avLst/>
            <a:gdLst/>
            <a:ahLst/>
            <a:cxnLst/>
            <a:rect r="r" b="b" t="t" l="l"/>
            <a:pathLst>
              <a:path h="15032662" w="7024353">
                <a:moveTo>
                  <a:pt x="0" y="0"/>
                </a:moveTo>
                <a:lnTo>
                  <a:pt x="7024353" y="0"/>
                </a:lnTo>
                <a:lnTo>
                  <a:pt x="7024353" y="15032662"/>
                </a:lnTo>
                <a:lnTo>
                  <a:pt x="0" y="150326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5637682"/>
            <a:ext cx="1623060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644238" y="8399794"/>
            <a:ext cx="3704917" cy="2451982"/>
          </a:xfrm>
          <a:custGeom>
            <a:avLst/>
            <a:gdLst/>
            <a:ahLst/>
            <a:cxnLst/>
            <a:rect r="r" b="b" t="t" l="l"/>
            <a:pathLst>
              <a:path h="2451982" w="3704917">
                <a:moveTo>
                  <a:pt x="0" y="0"/>
                </a:moveTo>
                <a:lnTo>
                  <a:pt x="3704918" y="0"/>
                </a:lnTo>
                <a:lnTo>
                  <a:pt x="3704918" y="2451981"/>
                </a:lnTo>
                <a:lnTo>
                  <a:pt x="0" y="24519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842505" y="1872825"/>
            <a:ext cx="13027353" cy="3064770"/>
          </a:xfrm>
          <a:custGeom>
            <a:avLst/>
            <a:gdLst/>
            <a:ahLst/>
            <a:cxnLst/>
            <a:rect r="r" b="b" t="t" l="l"/>
            <a:pathLst>
              <a:path h="3064770" w="13027353">
                <a:moveTo>
                  <a:pt x="0" y="0"/>
                </a:moveTo>
                <a:lnTo>
                  <a:pt x="13027353" y="0"/>
                </a:lnTo>
                <a:lnTo>
                  <a:pt x="13027353" y="3064770"/>
                </a:lnTo>
                <a:lnTo>
                  <a:pt x="0" y="30647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5200" r="0" b="-1648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54404" y="507284"/>
            <a:ext cx="16032860" cy="895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90"/>
              </a:lnSpc>
            </a:pPr>
            <a:r>
              <a:rPr lang="en-US" b="true" sz="6657" spc="-166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Frontend → Backend → Database Flow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09016" y="6389325"/>
            <a:ext cx="10198852" cy="2010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1676" indent="-245838" lvl="1">
              <a:lnSpc>
                <a:spcPts val="2277"/>
              </a:lnSpc>
              <a:buFont typeface="Arial"/>
              <a:buChar char="•"/>
            </a:pPr>
            <a:r>
              <a:rPr lang="en-US" b="true" sz="2277" spc="-111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FRONTEND: HTML, CSS, AND JAVASCRIPT CREATE THE USER INTERFACE.</a:t>
            </a:r>
          </a:p>
          <a:p>
            <a:pPr algn="l" marL="491676" indent="-245838" lvl="1">
              <a:lnSpc>
                <a:spcPts val="2277"/>
              </a:lnSpc>
              <a:buFont typeface="Arial"/>
              <a:buChar char="•"/>
            </a:pPr>
            <a:r>
              <a:rPr lang="en-US" b="true" sz="2277" spc="-111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Backend: Node.js and Express.js process requests.</a:t>
            </a:r>
          </a:p>
          <a:p>
            <a:pPr algn="l" marL="491676" indent="-245838" lvl="1">
              <a:lnSpc>
                <a:spcPts val="2277"/>
              </a:lnSpc>
              <a:buFont typeface="Arial"/>
              <a:buChar char="•"/>
            </a:pPr>
            <a:r>
              <a:rPr lang="en-US" b="true" sz="2277" spc="-111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Database: MongoDB stores student and attendance data.</a:t>
            </a:r>
          </a:p>
          <a:p>
            <a:pPr algn="l" marL="491676" indent="-245838" lvl="1">
              <a:lnSpc>
                <a:spcPts val="2277"/>
              </a:lnSpc>
              <a:buFont typeface="Arial"/>
              <a:buChar char="•"/>
            </a:pPr>
            <a:r>
              <a:rPr lang="en-US" b="true" sz="2277" spc="-111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Face Recognition: Identifies registered students through the webcam.</a:t>
            </a:r>
          </a:p>
          <a:p>
            <a:pPr algn="l" marL="491676" indent="-245838" lvl="1">
              <a:lnSpc>
                <a:spcPts val="2277"/>
              </a:lnSpc>
              <a:buFont typeface="Arial"/>
              <a:buChar char="•"/>
            </a:pPr>
            <a:r>
              <a:rPr lang="en-US" b="true" sz="2277" spc="-111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Dashboard: Displays attendance information to the admin.</a:t>
            </a:r>
          </a:p>
          <a:p>
            <a:pPr algn="l" marL="0" indent="0" lvl="0">
              <a:lnSpc>
                <a:spcPts val="227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99817"/>
            <a:ext cx="7879698" cy="10486817"/>
            <a:chOff x="0" y="0"/>
            <a:chExt cx="1381474" cy="18385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1474" cy="1838556"/>
            </a:xfrm>
            <a:custGeom>
              <a:avLst/>
              <a:gdLst/>
              <a:ahLst/>
              <a:cxnLst/>
              <a:rect r="r" b="b" t="t" l="l"/>
              <a:pathLst>
                <a:path h="1838556" w="1381474">
                  <a:moveTo>
                    <a:pt x="0" y="0"/>
                  </a:moveTo>
                  <a:lnTo>
                    <a:pt x="1381474" y="0"/>
                  </a:lnTo>
                  <a:lnTo>
                    <a:pt x="1381474" y="1838556"/>
                  </a:lnTo>
                  <a:lnTo>
                    <a:pt x="0" y="1838556"/>
                  </a:lnTo>
                  <a:close/>
                </a:path>
              </a:pathLst>
            </a:custGeom>
            <a:blipFill>
              <a:blip r:embed="rId2"/>
              <a:stretch>
                <a:fillRect l="-91127" t="0" r="-4611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50291" y="1228725"/>
            <a:ext cx="8881661" cy="301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685"/>
              </a:lnSpc>
            </a:pPr>
            <a:r>
              <a:rPr lang="en-US" b="true" sz="11456" spc="-286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Database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02850" y="5100741"/>
            <a:ext cx="8413076" cy="375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80" indent="-356240" lvl="1">
              <a:lnSpc>
                <a:spcPts val="3300"/>
              </a:lnSpc>
              <a:buFont typeface="Arial"/>
              <a:buChar char="•"/>
            </a:pPr>
            <a:r>
              <a:rPr lang="en-US" sz="3300" spc="-161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DATABASE: MONGODB</a:t>
            </a:r>
          </a:p>
          <a:p>
            <a:pPr algn="l" marL="712480" indent="-356240" lvl="1">
              <a:lnSpc>
                <a:spcPts val="3300"/>
              </a:lnSpc>
              <a:buFont typeface="Arial"/>
              <a:buChar char="•"/>
            </a:pPr>
            <a:r>
              <a:rPr lang="en-US" sz="3300" spc="-161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Students Collection: Student ID, Name, Section, Roll Number, Face Descriptor</a:t>
            </a:r>
          </a:p>
          <a:p>
            <a:pPr algn="l" marL="712480" indent="-356240" lvl="1">
              <a:lnSpc>
                <a:spcPts val="3300"/>
              </a:lnSpc>
              <a:buFont typeface="Arial"/>
              <a:buChar char="•"/>
            </a:pPr>
            <a:r>
              <a:rPr lang="en-US" sz="3300" spc="-161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Attendance Collection: Attendance ID, Student ID, Date, Time, Status</a:t>
            </a:r>
          </a:p>
          <a:p>
            <a:pPr algn="l" marL="712480" indent="-356240" lvl="1">
              <a:lnSpc>
                <a:spcPts val="3300"/>
              </a:lnSpc>
              <a:buFont typeface="Arial"/>
              <a:buChar char="•"/>
            </a:pPr>
            <a:r>
              <a:rPr lang="en-US" sz="3300" spc="-161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Relationship: One student can have multiple attendance records.</a:t>
            </a:r>
          </a:p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16649" y="-1753988"/>
            <a:ext cx="6799730" cy="14328933"/>
          </a:xfrm>
          <a:custGeom>
            <a:avLst/>
            <a:gdLst/>
            <a:ahLst/>
            <a:cxnLst/>
            <a:rect r="r" b="b" t="t" l="l"/>
            <a:pathLst>
              <a:path h="14328933" w="6799730">
                <a:moveTo>
                  <a:pt x="0" y="0"/>
                </a:moveTo>
                <a:lnTo>
                  <a:pt x="6799730" y="0"/>
                </a:lnTo>
                <a:lnTo>
                  <a:pt x="6799730" y="14328932"/>
                </a:lnTo>
                <a:lnTo>
                  <a:pt x="0" y="14328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2560444" y="-2178902"/>
            <a:ext cx="3080383" cy="10939540"/>
          </a:xfrm>
          <a:custGeom>
            <a:avLst/>
            <a:gdLst/>
            <a:ahLst/>
            <a:cxnLst/>
            <a:rect r="r" b="b" t="t" l="l"/>
            <a:pathLst>
              <a:path h="10939540" w="3080383">
                <a:moveTo>
                  <a:pt x="3080383" y="0"/>
                </a:moveTo>
                <a:lnTo>
                  <a:pt x="0" y="0"/>
                </a:lnTo>
                <a:lnTo>
                  <a:pt x="0" y="10939540"/>
                </a:lnTo>
                <a:lnTo>
                  <a:pt x="3080383" y="10939540"/>
                </a:lnTo>
                <a:lnTo>
                  <a:pt x="3080383" y="0"/>
                </a:lnTo>
                <a:close/>
              </a:path>
            </a:pathLst>
          </a:custGeom>
          <a:blipFill>
            <a:blip r:embed="rId3"/>
            <a:stretch>
              <a:fillRect l="-348378" t="-26255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1743" y="538472"/>
            <a:ext cx="16345586" cy="1538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685"/>
              </a:lnSpc>
              <a:spcBef>
                <a:spcPct val="0"/>
              </a:spcBef>
            </a:pPr>
            <a:r>
              <a:rPr lang="en-US" b="true" sz="11456" spc="-286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ER Diagram /Database Schema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355929"/>
            <a:ext cx="4776261" cy="2559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7"/>
              </a:lnSpc>
            </a:pPr>
            <a:r>
              <a:rPr lang="en-US" sz="2877" spc="-140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STUDENTS COLLECTION :</a:t>
            </a:r>
          </a:p>
          <a:p>
            <a:pPr algn="l" marL="621212" indent="-310606" lvl="1">
              <a:lnSpc>
                <a:spcPts val="2877"/>
              </a:lnSpc>
              <a:buFont typeface="Arial"/>
              <a:buChar char="•"/>
            </a:pPr>
            <a:r>
              <a:rPr lang="en-US" sz="2877" spc="-140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studentId</a:t>
            </a:r>
          </a:p>
          <a:p>
            <a:pPr algn="l" marL="621212" indent="-310606" lvl="1">
              <a:lnSpc>
                <a:spcPts val="2877"/>
              </a:lnSpc>
              <a:buFont typeface="Arial"/>
              <a:buChar char="•"/>
            </a:pPr>
            <a:r>
              <a:rPr lang="en-US" sz="2877" spc="-140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name</a:t>
            </a:r>
          </a:p>
          <a:p>
            <a:pPr algn="l" marL="621212" indent="-310606" lvl="1">
              <a:lnSpc>
                <a:spcPts val="2877"/>
              </a:lnSpc>
              <a:buFont typeface="Arial"/>
              <a:buChar char="•"/>
            </a:pPr>
            <a:r>
              <a:rPr lang="en-US" sz="2877" spc="-140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section</a:t>
            </a:r>
          </a:p>
          <a:p>
            <a:pPr algn="l" marL="621212" indent="-310606" lvl="1">
              <a:lnSpc>
                <a:spcPts val="2877"/>
              </a:lnSpc>
              <a:buFont typeface="Arial"/>
              <a:buChar char="•"/>
            </a:pPr>
            <a:r>
              <a:rPr lang="en-US" sz="2877" spc="-140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rollNumber</a:t>
            </a:r>
          </a:p>
          <a:p>
            <a:pPr algn="l" marL="621212" indent="-310606" lvl="1">
              <a:lnSpc>
                <a:spcPts val="2877"/>
              </a:lnSpc>
              <a:buFont typeface="Arial"/>
              <a:buChar char="•"/>
            </a:pPr>
            <a:r>
              <a:rPr lang="en-US" sz="2877" spc="-140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faceDescriptor</a:t>
            </a:r>
          </a:p>
          <a:p>
            <a:pPr algn="l">
              <a:lnSpc>
                <a:spcPts val="2877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689553" y="4335711"/>
            <a:ext cx="4434483" cy="2197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7"/>
              </a:lnSpc>
              <a:spcBef>
                <a:spcPct val="0"/>
              </a:spcBef>
            </a:pPr>
            <a:r>
              <a:rPr lang="en-US" sz="2877" spc="-140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ATTENDANCE COLLECTION :</a:t>
            </a:r>
          </a:p>
          <a:p>
            <a:pPr algn="l" marL="621212" indent="-310606" lvl="1">
              <a:lnSpc>
                <a:spcPts val="2877"/>
              </a:lnSpc>
              <a:spcBef>
                <a:spcPct val="0"/>
              </a:spcBef>
              <a:buFont typeface="Arial"/>
              <a:buChar char="•"/>
            </a:pPr>
            <a:r>
              <a:rPr lang="en-US" sz="2877" spc="-140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ATTENDANCEID</a:t>
            </a:r>
          </a:p>
          <a:p>
            <a:pPr algn="l" marL="621212" indent="-310606" lvl="1">
              <a:lnSpc>
                <a:spcPts val="2877"/>
              </a:lnSpc>
              <a:spcBef>
                <a:spcPct val="0"/>
              </a:spcBef>
              <a:buFont typeface="Arial"/>
              <a:buChar char="•"/>
            </a:pPr>
            <a:r>
              <a:rPr lang="en-US" sz="2877" spc="-140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STUDENTID</a:t>
            </a:r>
          </a:p>
          <a:p>
            <a:pPr algn="l" marL="621212" indent="-310606" lvl="1">
              <a:lnSpc>
                <a:spcPts val="2877"/>
              </a:lnSpc>
              <a:spcBef>
                <a:spcPct val="0"/>
              </a:spcBef>
              <a:buFont typeface="Arial"/>
              <a:buChar char="•"/>
            </a:pPr>
            <a:r>
              <a:rPr lang="en-US" sz="2877" spc="-140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DATE</a:t>
            </a:r>
          </a:p>
          <a:p>
            <a:pPr algn="l" marL="621212" indent="-310606" lvl="1">
              <a:lnSpc>
                <a:spcPts val="2877"/>
              </a:lnSpc>
              <a:spcBef>
                <a:spcPct val="0"/>
              </a:spcBef>
              <a:buFont typeface="Arial"/>
              <a:buChar char="•"/>
            </a:pPr>
            <a:r>
              <a:rPr lang="en-US" sz="2877" spc="-140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TIME</a:t>
            </a:r>
          </a:p>
          <a:p>
            <a:pPr algn="l" marL="621212" indent="-310606" lvl="1">
              <a:lnSpc>
                <a:spcPts val="2877"/>
              </a:lnSpc>
              <a:spcBef>
                <a:spcPct val="0"/>
              </a:spcBef>
              <a:buFont typeface="Arial"/>
              <a:buChar char="•"/>
            </a:pPr>
            <a:r>
              <a:rPr lang="en-US" sz="2877" spc="-140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STATUS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3339880" y="-527260"/>
            <a:ext cx="5223733" cy="11007867"/>
          </a:xfrm>
          <a:custGeom>
            <a:avLst/>
            <a:gdLst/>
            <a:ahLst/>
            <a:cxnLst/>
            <a:rect r="r" b="b" t="t" l="l"/>
            <a:pathLst>
              <a:path h="11007867" w="5223733">
                <a:moveTo>
                  <a:pt x="0" y="0"/>
                </a:moveTo>
                <a:lnTo>
                  <a:pt x="5223733" y="0"/>
                </a:lnTo>
                <a:lnTo>
                  <a:pt x="5223733" y="11007867"/>
                </a:lnTo>
                <a:lnTo>
                  <a:pt x="0" y="11007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573188"/>
            <a:ext cx="17118017" cy="378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86"/>
              </a:lnSpc>
            </a:pPr>
          </a:p>
          <a:p>
            <a:pPr algn="l" marL="0" indent="0" lvl="0">
              <a:lnSpc>
                <a:spcPts val="9886"/>
              </a:lnSpc>
            </a:pPr>
            <a:r>
              <a:rPr lang="en-US" b="true" sz="9598" spc="-239" strike="noStrike" u="none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Tables and Their Purpose</a:t>
            </a:r>
          </a:p>
          <a:p>
            <a:pPr algn="l" marL="0" indent="0" lvl="0">
              <a:lnSpc>
                <a:spcPts val="988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2537925" y="716397"/>
            <a:ext cx="8643128" cy="4635859"/>
          </a:xfrm>
          <a:custGeom>
            <a:avLst/>
            <a:gdLst/>
            <a:ahLst/>
            <a:cxnLst/>
            <a:rect r="r" b="b" t="t" l="l"/>
            <a:pathLst>
              <a:path h="4635859" w="8643128">
                <a:moveTo>
                  <a:pt x="0" y="0"/>
                </a:moveTo>
                <a:lnTo>
                  <a:pt x="8643128" y="0"/>
                </a:lnTo>
                <a:lnTo>
                  <a:pt x="8643128" y="4635859"/>
                </a:lnTo>
                <a:lnTo>
                  <a:pt x="0" y="46358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1652" y="3015728"/>
            <a:ext cx="13571619" cy="4340162"/>
          </a:xfrm>
          <a:custGeom>
            <a:avLst/>
            <a:gdLst/>
            <a:ahLst/>
            <a:cxnLst/>
            <a:rect r="r" b="b" t="t" l="l"/>
            <a:pathLst>
              <a:path h="4340162" w="13571619">
                <a:moveTo>
                  <a:pt x="0" y="0"/>
                </a:moveTo>
                <a:lnTo>
                  <a:pt x="13571619" y="0"/>
                </a:lnTo>
                <a:lnTo>
                  <a:pt x="13571619" y="4340162"/>
                </a:lnTo>
                <a:lnTo>
                  <a:pt x="0" y="43401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16649" y="-1753988"/>
            <a:ext cx="6799730" cy="14328933"/>
          </a:xfrm>
          <a:custGeom>
            <a:avLst/>
            <a:gdLst/>
            <a:ahLst/>
            <a:cxnLst/>
            <a:rect r="r" b="b" t="t" l="l"/>
            <a:pathLst>
              <a:path h="14328933" w="6799730">
                <a:moveTo>
                  <a:pt x="0" y="0"/>
                </a:moveTo>
                <a:lnTo>
                  <a:pt x="6799730" y="0"/>
                </a:lnTo>
                <a:lnTo>
                  <a:pt x="6799730" y="14328932"/>
                </a:lnTo>
                <a:lnTo>
                  <a:pt x="0" y="14328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2560444" y="-2178902"/>
            <a:ext cx="3080383" cy="10939540"/>
          </a:xfrm>
          <a:custGeom>
            <a:avLst/>
            <a:gdLst/>
            <a:ahLst/>
            <a:cxnLst/>
            <a:rect r="r" b="b" t="t" l="l"/>
            <a:pathLst>
              <a:path h="10939540" w="3080383">
                <a:moveTo>
                  <a:pt x="3080383" y="0"/>
                </a:moveTo>
                <a:lnTo>
                  <a:pt x="0" y="0"/>
                </a:lnTo>
                <a:lnTo>
                  <a:pt x="0" y="10939540"/>
                </a:lnTo>
                <a:lnTo>
                  <a:pt x="3080383" y="10939540"/>
                </a:lnTo>
                <a:lnTo>
                  <a:pt x="3080383" y="0"/>
                </a:lnTo>
                <a:close/>
              </a:path>
            </a:pathLst>
          </a:custGeom>
          <a:blipFill>
            <a:blip r:embed="rId3"/>
            <a:stretch>
              <a:fillRect l="-348378" t="-26255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2932" y="2731439"/>
            <a:ext cx="12944442" cy="4824122"/>
          </a:xfrm>
          <a:custGeom>
            <a:avLst/>
            <a:gdLst/>
            <a:ahLst/>
            <a:cxnLst/>
            <a:rect r="r" b="b" t="t" l="l"/>
            <a:pathLst>
              <a:path h="4824122" w="12944442">
                <a:moveTo>
                  <a:pt x="0" y="0"/>
                </a:moveTo>
                <a:lnTo>
                  <a:pt x="12944442" y="0"/>
                </a:lnTo>
                <a:lnTo>
                  <a:pt x="12944442" y="4824122"/>
                </a:lnTo>
                <a:lnTo>
                  <a:pt x="0" y="48241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1743" y="538472"/>
            <a:ext cx="16345586" cy="1538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685"/>
              </a:lnSpc>
              <a:spcBef>
                <a:spcPct val="0"/>
              </a:spcBef>
            </a:pPr>
            <a:r>
              <a:rPr lang="en-US" b="true" sz="11456" spc="-286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Keys and Relationships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47445" y="-2220272"/>
            <a:ext cx="7024353" cy="15032662"/>
          </a:xfrm>
          <a:custGeom>
            <a:avLst/>
            <a:gdLst/>
            <a:ahLst/>
            <a:cxnLst/>
            <a:rect r="r" b="b" t="t" l="l"/>
            <a:pathLst>
              <a:path h="15032662" w="7024353">
                <a:moveTo>
                  <a:pt x="0" y="0"/>
                </a:moveTo>
                <a:lnTo>
                  <a:pt x="7024353" y="0"/>
                </a:lnTo>
                <a:lnTo>
                  <a:pt x="7024353" y="15032662"/>
                </a:lnTo>
                <a:lnTo>
                  <a:pt x="0" y="150326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18540" y="8438954"/>
            <a:ext cx="12525683" cy="8465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644222" y="8447419"/>
            <a:ext cx="3704917" cy="2451982"/>
          </a:xfrm>
          <a:custGeom>
            <a:avLst/>
            <a:gdLst/>
            <a:ahLst/>
            <a:cxnLst/>
            <a:rect r="r" b="b" t="t" l="l"/>
            <a:pathLst>
              <a:path h="2451982" w="3704917">
                <a:moveTo>
                  <a:pt x="0" y="0"/>
                </a:moveTo>
                <a:lnTo>
                  <a:pt x="3704918" y="0"/>
                </a:lnTo>
                <a:lnTo>
                  <a:pt x="3704918" y="2451981"/>
                </a:lnTo>
                <a:lnTo>
                  <a:pt x="0" y="24519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654404" y="507284"/>
            <a:ext cx="16032860" cy="895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90"/>
              </a:lnSpc>
            </a:pPr>
            <a:r>
              <a:rPr lang="en-US" b="true" sz="6657" spc="-166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Database Operations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8594" y="2536253"/>
            <a:ext cx="10198852" cy="5878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4391" indent="-332196" lvl="1">
              <a:lnSpc>
                <a:spcPts val="3077"/>
              </a:lnSpc>
              <a:buFont typeface="Arial"/>
              <a:buChar char="•"/>
            </a:pPr>
            <a:r>
              <a:rPr lang="en-US" b="true" sz="3077" spc="-150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NSERT: ADD NEW STUDENT AND ATTENDANCE RECORDS.</a:t>
            </a:r>
          </a:p>
          <a:p>
            <a:pPr algn="l" marL="664391" indent="-332196" lvl="1">
              <a:lnSpc>
                <a:spcPts val="3077"/>
              </a:lnSpc>
              <a:buFont typeface="Arial"/>
              <a:buChar char="•"/>
            </a:pPr>
            <a:r>
              <a:rPr lang="en-US" b="true" sz="3077" spc="-150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Read: Retrieve student and attendance details.</a:t>
            </a:r>
          </a:p>
          <a:p>
            <a:pPr algn="l" marL="664391" indent="-332196" lvl="1">
              <a:lnSpc>
                <a:spcPts val="3077"/>
              </a:lnSpc>
              <a:buFont typeface="Arial"/>
              <a:buChar char="•"/>
            </a:pPr>
            <a:r>
              <a:rPr lang="en-US" b="true" sz="3077" spc="-150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Update: Modify student information when required.</a:t>
            </a:r>
          </a:p>
          <a:p>
            <a:pPr algn="l" marL="664391" indent="-332196" lvl="1">
              <a:lnSpc>
                <a:spcPts val="3077"/>
              </a:lnSpc>
              <a:buFont typeface="Arial"/>
              <a:buChar char="•"/>
            </a:pPr>
            <a:r>
              <a:rPr lang="en-US" b="true" sz="3077" spc="-150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Delete: Remove student or attendance records.</a:t>
            </a:r>
          </a:p>
          <a:p>
            <a:pPr algn="l" marL="664391" indent="-332196" lvl="1">
              <a:lnSpc>
                <a:spcPts val="3077"/>
              </a:lnSpc>
              <a:buFont typeface="Arial"/>
              <a:buChar char="•"/>
            </a:pPr>
            <a:r>
              <a:rPr lang="en-US" b="true" sz="3077" spc="-150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Search: Find students using roll number or student ID.</a:t>
            </a:r>
          </a:p>
          <a:p>
            <a:pPr algn="l" marL="664391" indent="-332196" lvl="1">
              <a:lnSpc>
                <a:spcPts val="3077"/>
              </a:lnSpc>
              <a:buFont typeface="Arial"/>
              <a:buChar char="•"/>
            </a:pPr>
            <a:r>
              <a:rPr lang="en-US" b="true" sz="3077" spc="-150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Count: Calculate total students and present students.</a:t>
            </a:r>
          </a:p>
          <a:p>
            <a:pPr algn="l" marL="664391" indent="-332196" lvl="1">
              <a:lnSpc>
                <a:spcPts val="3077"/>
              </a:lnSpc>
              <a:buFont typeface="Arial"/>
              <a:buChar char="•"/>
            </a:pPr>
            <a:r>
              <a:rPr lang="en-US" b="true" sz="3077" spc="-150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Store: Save face descriptors and attendance data in MongoDB.</a:t>
            </a:r>
          </a:p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5354" y="6224493"/>
            <a:ext cx="19198230" cy="6911363"/>
          </a:xfrm>
          <a:custGeom>
            <a:avLst/>
            <a:gdLst/>
            <a:ahLst/>
            <a:cxnLst/>
            <a:rect r="r" b="b" t="t" l="l"/>
            <a:pathLst>
              <a:path h="6911363" w="19198230">
                <a:moveTo>
                  <a:pt x="0" y="0"/>
                </a:moveTo>
                <a:lnTo>
                  <a:pt x="19198231" y="0"/>
                </a:lnTo>
                <a:lnTo>
                  <a:pt x="19198231" y="6911363"/>
                </a:lnTo>
                <a:lnTo>
                  <a:pt x="0" y="69113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0" y="6548343"/>
            <a:ext cx="8484440" cy="272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11"/>
              </a:lnSpc>
            </a:pPr>
            <a:r>
              <a:rPr lang="en-US" b="true" sz="11456" spc="-286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Sample SQL Queries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7669" y="1769106"/>
            <a:ext cx="17052730" cy="2747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2437" spc="-119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INSERT INTO STUDENTS VALUES (1, 'RAHUL', 'A', '101');</a:t>
            </a:r>
          </a:p>
          <a:p>
            <a:pPr algn="l">
              <a:lnSpc>
                <a:spcPts val="2437"/>
              </a:lnSpc>
            </a:pPr>
          </a:p>
          <a:p>
            <a:pPr algn="l">
              <a:lnSpc>
                <a:spcPts val="2437"/>
              </a:lnSpc>
            </a:pPr>
            <a:r>
              <a:rPr lang="en-US" sz="2437" spc="-119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SELECT * FROM Students;</a:t>
            </a:r>
          </a:p>
          <a:p>
            <a:pPr algn="l">
              <a:lnSpc>
                <a:spcPts val="2437"/>
              </a:lnSpc>
            </a:pPr>
          </a:p>
          <a:p>
            <a:pPr algn="l">
              <a:lnSpc>
                <a:spcPts val="2437"/>
              </a:lnSpc>
            </a:pPr>
            <a:r>
              <a:rPr lang="en-US" sz="2437" spc="-119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SELECT * FROM Attendance;</a:t>
            </a:r>
          </a:p>
          <a:p>
            <a:pPr algn="l">
              <a:lnSpc>
                <a:spcPts val="2437"/>
              </a:lnSpc>
            </a:pPr>
          </a:p>
          <a:p>
            <a:pPr algn="l">
              <a:lnSpc>
                <a:spcPts val="2437"/>
              </a:lnSpc>
            </a:pPr>
            <a:r>
              <a:rPr lang="en-US" sz="2437" spc="-119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UPDATE Students SET section='B' WHERE studentId=1;</a:t>
            </a:r>
          </a:p>
          <a:p>
            <a:pPr algn="l">
              <a:lnSpc>
                <a:spcPts val="2437"/>
              </a:lnSpc>
            </a:pPr>
          </a:p>
          <a:p>
            <a:pPr algn="l">
              <a:lnSpc>
                <a:spcPts val="2437"/>
              </a:lnSpc>
              <a:spcBef>
                <a:spcPct val="0"/>
              </a:spcBef>
            </a:pPr>
            <a:r>
              <a:rPr lang="en-US" sz="2437" spc="-119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DELETE FROM Students WHERE studentId=1;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02349" y="-1753988"/>
            <a:ext cx="6799730" cy="14328933"/>
          </a:xfrm>
          <a:custGeom>
            <a:avLst/>
            <a:gdLst/>
            <a:ahLst/>
            <a:cxnLst/>
            <a:rect r="r" b="b" t="t" l="l"/>
            <a:pathLst>
              <a:path h="14328933" w="6799730">
                <a:moveTo>
                  <a:pt x="0" y="0"/>
                </a:moveTo>
                <a:lnTo>
                  <a:pt x="6799730" y="0"/>
                </a:lnTo>
                <a:lnTo>
                  <a:pt x="6799730" y="14328932"/>
                </a:lnTo>
                <a:lnTo>
                  <a:pt x="0" y="14328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2560444" y="-2178902"/>
            <a:ext cx="3080383" cy="10939540"/>
          </a:xfrm>
          <a:custGeom>
            <a:avLst/>
            <a:gdLst/>
            <a:ahLst/>
            <a:cxnLst/>
            <a:rect r="r" b="b" t="t" l="l"/>
            <a:pathLst>
              <a:path h="10939540" w="3080383">
                <a:moveTo>
                  <a:pt x="3080383" y="0"/>
                </a:moveTo>
                <a:lnTo>
                  <a:pt x="0" y="0"/>
                </a:lnTo>
                <a:lnTo>
                  <a:pt x="0" y="10939540"/>
                </a:lnTo>
                <a:lnTo>
                  <a:pt x="3080383" y="10939540"/>
                </a:lnTo>
                <a:lnTo>
                  <a:pt x="3080383" y="0"/>
                </a:lnTo>
                <a:close/>
              </a:path>
            </a:pathLst>
          </a:custGeom>
          <a:blipFill>
            <a:blip r:embed="rId3"/>
            <a:stretch>
              <a:fillRect l="-348378" t="-26255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1743" y="471797"/>
            <a:ext cx="16345586" cy="2272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28"/>
              </a:lnSpc>
              <a:spcBef>
                <a:spcPct val="0"/>
              </a:spcBef>
            </a:pPr>
            <a:r>
              <a:rPr lang="en-US" b="true" sz="8557" spc="-213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Current Implementation / Progress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9714" y="4146573"/>
            <a:ext cx="13445430" cy="283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013" indent="-388507" lvl="1">
              <a:lnSpc>
                <a:spcPts val="3706"/>
              </a:lnSpc>
              <a:spcBef>
                <a:spcPct val="0"/>
              </a:spcBef>
              <a:buFont typeface="Arial"/>
              <a:buChar char="•"/>
            </a:pPr>
            <a:r>
              <a:rPr lang="en-US" sz="3598" spc="-89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Frontend: HTML, CSS, and JavaScript completed.</a:t>
            </a:r>
          </a:p>
          <a:p>
            <a:pPr algn="l" marL="777013" indent="-388507" lvl="1">
              <a:lnSpc>
                <a:spcPts val="3706"/>
              </a:lnSpc>
              <a:spcBef>
                <a:spcPct val="0"/>
              </a:spcBef>
              <a:buFont typeface="Arial"/>
              <a:buChar char="•"/>
            </a:pPr>
            <a:r>
              <a:rPr lang="en-US" sz="3598" spc="-89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Backend: Node.js and Express.js implemented.</a:t>
            </a:r>
          </a:p>
          <a:p>
            <a:pPr algn="l" marL="777013" indent="-388507" lvl="1">
              <a:lnSpc>
                <a:spcPts val="3706"/>
              </a:lnSpc>
              <a:spcBef>
                <a:spcPct val="0"/>
              </a:spcBef>
              <a:buFont typeface="Arial"/>
              <a:buChar char="•"/>
            </a:pPr>
            <a:r>
              <a:rPr lang="en-US" sz="3598" spc="-89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Face Recognition: Webcam-based face recognition implemented.</a:t>
            </a:r>
          </a:p>
          <a:p>
            <a:pPr algn="l" marL="777013" indent="-388507" lvl="1">
              <a:lnSpc>
                <a:spcPts val="3706"/>
              </a:lnSpc>
              <a:spcBef>
                <a:spcPct val="0"/>
              </a:spcBef>
              <a:buFont typeface="Arial"/>
              <a:buChar char="•"/>
            </a:pPr>
            <a:r>
              <a:rPr lang="en-US" sz="3598" spc="-89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Database: MongoDB integration completed.</a:t>
            </a:r>
          </a:p>
          <a:p>
            <a:pPr algn="l" marL="777013" indent="-388507" lvl="1">
              <a:lnSpc>
                <a:spcPts val="3706"/>
              </a:lnSpc>
              <a:spcBef>
                <a:spcPct val="0"/>
              </a:spcBef>
              <a:buFont typeface="Arial"/>
              <a:buChar char="•"/>
            </a:pPr>
            <a:r>
              <a:rPr lang="en-US" sz="3598" spc="-89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Attendance: Automatic attendance marking implemented.</a:t>
            </a:r>
          </a:p>
          <a:p>
            <a:pPr algn="l" marL="777013" indent="-388507" lvl="1">
              <a:lnSpc>
                <a:spcPts val="3706"/>
              </a:lnSpc>
              <a:spcBef>
                <a:spcPct val="0"/>
              </a:spcBef>
              <a:buFont typeface="Arial"/>
              <a:buChar char="•"/>
            </a:pPr>
            <a:r>
              <a:rPr lang="en-US" sz="3598" spc="-89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Dashboard: Student and attendance details displayed.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181814" y="-527260"/>
            <a:ext cx="4593112" cy="11007867"/>
          </a:xfrm>
          <a:custGeom>
            <a:avLst/>
            <a:gdLst/>
            <a:ahLst/>
            <a:cxnLst/>
            <a:rect r="r" b="b" t="t" l="l"/>
            <a:pathLst>
              <a:path h="11007867" w="4593112">
                <a:moveTo>
                  <a:pt x="4593113" y="0"/>
                </a:moveTo>
                <a:lnTo>
                  <a:pt x="0" y="0"/>
                </a:lnTo>
                <a:lnTo>
                  <a:pt x="0" y="11007867"/>
                </a:lnTo>
                <a:lnTo>
                  <a:pt x="4593113" y="11007867"/>
                </a:lnTo>
                <a:lnTo>
                  <a:pt x="4593113" y="0"/>
                </a:lnTo>
                <a:close/>
              </a:path>
            </a:pathLst>
          </a:custGeom>
          <a:blipFill>
            <a:blip r:embed="rId2"/>
            <a:stretch>
              <a:fillRect l="0" t="0" r="-1372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187394" y="5070935"/>
            <a:ext cx="7685974" cy="4332120"/>
            <a:chOff x="0" y="0"/>
            <a:chExt cx="2114537" cy="11918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14537" cy="1191837"/>
            </a:xfrm>
            <a:custGeom>
              <a:avLst/>
              <a:gdLst/>
              <a:ahLst/>
              <a:cxnLst/>
              <a:rect r="r" b="b" t="t" l="l"/>
              <a:pathLst>
                <a:path h="1191837" w="2114537">
                  <a:moveTo>
                    <a:pt x="0" y="0"/>
                  </a:moveTo>
                  <a:lnTo>
                    <a:pt x="2114537" y="0"/>
                  </a:lnTo>
                  <a:lnTo>
                    <a:pt x="2114537" y="1191837"/>
                  </a:lnTo>
                  <a:lnTo>
                    <a:pt x="0" y="1191837"/>
                  </a:lnTo>
                  <a:close/>
                </a:path>
              </a:pathLst>
            </a:custGeom>
            <a:blipFill>
              <a:blip r:embed="rId3"/>
              <a:stretch>
                <a:fillRect l="-237" t="0" r="-237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887836" y="610774"/>
            <a:ext cx="14517417" cy="301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685"/>
              </a:lnSpc>
            </a:pPr>
            <a:r>
              <a:rPr lang="en-US" b="true" sz="11456" spc="-286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Conclusion and Next Steps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4347" y="3682551"/>
            <a:ext cx="9433047" cy="631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  <a:spcBef>
                <a:spcPct val="0"/>
              </a:spcBef>
            </a:pPr>
          </a:p>
          <a:p>
            <a:pPr algn="l">
              <a:lnSpc>
                <a:spcPts val="3314"/>
              </a:lnSpc>
              <a:spcBef>
                <a:spcPct val="0"/>
              </a:spcBef>
            </a:pPr>
            <a:r>
              <a:rPr lang="en-US" sz="3314" spc="-162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     </a:t>
            </a:r>
            <a:r>
              <a:rPr lang="en-US" b="true" sz="3314" spc="-162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CONCLUSION:</a:t>
            </a:r>
          </a:p>
          <a:p>
            <a:pPr algn="l" marL="715516" indent="-357758" lvl="1">
              <a:lnSpc>
                <a:spcPts val="3314"/>
              </a:lnSpc>
              <a:spcBef>
                <a:spcPct val="0"/>
              </a:spcBef>
              <a:buFont typeface="Arial"/>
              <a:buChar char="•"/>
            </a:pPr>
            <a:r>
              <a:rPr lang="en-US" sz="3314" spc="-162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THE SYSTEM AUTOMATES ATTENDANCE USING FACE RECOGNITION.</a:t>
            </a:r>
          </a:p>
          <a:p>
            <a:pPr algn="l" marL="715516" indent="-357758" lvl="1">
              <a:lnSpc>
                <a:spcPts val="3314"/>
              </a:lnSpc>
              <a:spcBef>
                <a:spcPct val="0"/>
              </a:spcBef>
              <a:buFont typeface="Arial"/>
              <a:buChar char="•"/>
            </a:pPr>
            <a:r>
              <a:rPr lang="en-US" sz="3314" spc="-162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STUDENT AND ATTENDANCE DATA ARE STORED IN MONGODB.</a:t>
            </a:r>
          </a:p>
          <a:p>
            <a:pPr algn="l" marL="715516" indent="-357758" lvl="1">
              <a:lnSpc>
                <a:spcPts val="3314"/>
              </a:lnSpc>
              <a:spcBef>
                <a:spcPct val="0"/>
              </a:spcBef>
              <a:buFont typeface="Arial"/>
              <a:buChar char="•"/>
            </a:pPr>
            <a:r>
              <a:rPr lang="en-US" sz="3314" spc="-162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IT REDUCES MANUAL WORK AND SAVES TIME.</a:t>
            </a:r>
          </a:p>
          <a:p>
            <a:pPr algn="l">
              <a:lnSpc>
                <a:spcPts val="3314"/>
              </a:lnSpc>
              <a:spcBef>
                <a:spcPct val="0"/>
              </a:spcBef>
            </a:pPr>
          </a:p>
          <a:p>
            <a:pPr algn="l">
              <a:lnSpc>
                <a:spcPts val="3314"/>
              </a:lnSpc>
              <a:spcBef>
                <a:spcPct val="0"/>
              </a:spcBef>
            </a:pPr>
            <a:r>
              <a:rPr lang="en-US" sz="3314" spc="-162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        </a:t>
            </a:r>
            <a:r>
              <a:rPr lang="en-US" b="true" sz="3314" spc="-162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NEXT STEPS:</a:t>
            </a:r>
          </a:p>
          <a:p>
            <a:pPr algn="l" marL="715516" indent="-357758" lvl="1">
              <a:lnSpc>
                <a:spcPts val="3314"/>
              </a:lnSpc>
              <a:spcBef>
                <a:spcPct val="0"/>
              </a:spcBef>
              <a:buFont typeface="Arial"/>
              <a:buChar char="•"/>
            </a:pPr>
            <a:r>
              <a:rPr lang="en-US" sz="3314" spc="-162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IMPROVE FACE RECOGNITION ACCURACY.</a:t>
            </a:r>
          </a:p>
          <a:p>
            <a:pPr algn="l" marL="715516" indent="-357758" lvl="1">
              <a:lnSpc>
                <a:spcPts val="3314"/>
              </a:lnSpc>
              <a:spcBef>
                <a:spcPct val="0"/>
              </a:spcBef>
              <a:buFont typeface="Arial"/>
              <a:buChar char="•"/>
            </a:pPr>
            <a:r>
              <a:rPr lang="en-US" sz="3314" spc="-162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ADD ATTENDANCE REPORT GENERATION.</a:t>
            </a:r>
          </a:p>
          <a:p>
            <a:pPr algn="l" marL="715516" indent="-357758" lvl="1">
              <a:lnSpc>
                <a:spcPts val="3314"/>
              </a:lnSpc>
              <a:spcBef>
                <a:spcPct val="0"/>
              </a:spcBef>
              <a:buFont typeface="Arial"/>
              <a:buChar char="•"/>
            </a:pPr>
            <a:r>
              <a:rPr lang="en-US" sz="3314" spc="-162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IMPROVE THE DASHBOARD AND USER INTERFACE.</a:t>
            </a:r>
          </a:p>
          <a:p>
            <a:pPr algn="l" marL="715516" indent="-357758" lvl="1">
              <a:lnSpc>
                <a:spcPts val="3314"/>
              </a:lnSpc>
              <a:spcBef>
                <a:spcPct val="0"/>
              </a:spcBef>
              <a:buFont typeface="Arial"/>
              <a:buChar char="•"/>
            </a:pPr>
            <a:r>
              <a:rPr lang="en-US" sz="3314" spc="-162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ADD MOBILE APPLICATION SUPPORT.</a:t>
            </a:r>
          </a:p>
          <a:p>
            <a:pPr algn="l">
              <a:lnSpc>
                <a:spcPts val="331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723441" y="3683097"/>
            <a:ext cx="13990875" cy="5036715"/>
          </a:xfrm>
          <a:custGeom>
            <a:avLst/>
            <a:gdLst/>
            <a:ahLst/>
            <a:cxnLst/>
            <a:rect r="r" b="b" t="t" l="l"/>
            <a:pathLst>
              <a:path h="5036715" w="13990875">
                <a:moveTo>
                  <a:pt x="0" y="0"/>
                </a:moveTo>
                <a:lnTo>
                  <a:pt x="13990875" y="0"/>
                </a:lnTo>
                <a:lnTo>
                  <a:pt x="13990875" y="5036715"/>
                </a:lnTo>
                <a:lnTo>
                  <a:pt x="0" y="50367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98828" y="7485789"/>
            <a:ext cx="8643128" cy="4635859"/>
          </a:xfrm>
          <a:custGeom>
            <a:avLst/>
            <a:gdLst/>
            <a:ahLst/>
            <a:cxnLst/>
            <a:rect r="r" b="b" t="t" l="l"/>
            <a:pathLst>
              <a:path h="4635859" w="8643128">
                <a:moveTo>
                  <a:pt x="0" y="0"/>
                </a:moveTo>
                <a:lnTo>
                  <a:pt x="8643128" y="0"/>
                </a:lnTo>
                <a:lnTo>
                  <a:pt x="8643128" y="4635860"/>
                </a:lnTo>
                <a:lnTo>
                  <a:pt x="0" y="4635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4032" y="4300727"/>
            <a:ext cx="15871927" cy="2549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728"/>
              </a:lnSpc>
            </a:pPr>
            <a:r>
              <a:rPr lang="en-US" b="true" sz="22440" spc="-561" strike="noStrike" u="none">
                <a:solidFill>
                  <a:srgbClr val="FAF5ED"/>
                </a:solidFill>
                <a:latin typeface="Aileron Bold"/>
                <a:ea typeface="Aileron Bold"/>
                <a:cs typeface="Aileron Bold"/>
                <a:sym typeface="Aileron Bold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672241" y="4072657"/>
            <a:ext cx="2202126" cy="2502416"/>
          </a:xfrm>
          <a:custGeom>
            <a:avLst/>
            <a:gdLst/>
            <a:ahLst/>
            <a:cxnLst/>
            <a:rect r="r" b="b" t="t" l="l"/>
            <a:pathLst>
              <a:path h="2502416" w="2202126">
                <a:moveTo>
                  <a:pt x="0" y="0"/>
                </a:moveTo>
                <a:lnTo>
                  <a:pt x="2202126" y="0"/>
                </a:lnTo>
                <a:lnTo>
                  <a:pt x="2202126" y="2502416"/>
                </a:lnTo>
                <a:lnTo>
                  <a:pt x="0" y="25024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8851" y="7657239"/>
            <a:ext cx="1664601" cy="235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9133"/>
              </a:lnSpc>
              <a:spcBef>
                <a:spcPct val="0"/>
              </a:spcBef>
            </a:pPr>
            <a:r>
              <a:rPr lang="en-US" sz="9133" spc="-447" strike="noStrike" u="none">
                <a:solidFill>
                  <a:srgbClr val="FAF5ED"/>
                </a:solidFill>
                <a:latin typeface="Aileron"/>
                <a:ea typeface="Aileron"/>
                <a:cs typeface="Aileron"/>
                <a:sym typeface="Aileron"/>
              </a:rPr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DAHWux4V6kA</dc:identifier>
  <dcterms:modified xsi:type="dcterms:W3CDTF">2011-08-01T06:04:30Z</dcterms:modified>
  <cp:revision>1</cp:revision>
  <dc:title>Face Attendance Management System</dc:title>
</cp:coreProperties>
</file>